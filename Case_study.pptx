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5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3"/>
  </p:normalViewPr>
  <p:slideViewPr>
    <p:cSldViewPr snapToGrid="0" snapToObjects="1">
      <p:cViewPr varScale="1">
        <p:scale>
          <a:sx n="113" d="100"/>
          <a:sy n="113" d="100"/>
        </p:scale>
        <p:origin x="162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407936"/>
            <a:ext cx="7772400" cy="1470025"/>
          </a:xfrm>
        </p:spPr>
        <p:txBody>
          <a:bodyPr/>
          <a:lstStyle/>
          <a:p>
            <a:r>
              <a:rPr b="1" dirty="0"/>
              <a:t>Medisyn Labs – </a:t>
            </a:r>
            <a:r>
              <a:rPr lang="en-US" b="1" dirty="0"/>
              <a:t>Case Study</a:t>
            </a:r>
            <a:endParaRPr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94378"/>
            <a:ext cx="6400800" cy="985662"/>
          </a:xfrm>
        </p:spPr>
        <p:txBody>
          <a:bodyPr>
            <a:normAutofit lnSpcReduction="10000"/>
          </a:bodyPr>
          <a:lstStyle/>
          <a:p>
            <a:r>
              <a:rPr dirty="0">
                <a:solidFill>
                  <a:schemeClr val="tx1"/>
                </a:solidFill>
              </a:rPr>
              <a:t>Sentiment | Effectiveness | Cohorts</a:t>
            </a:r>
            <a:r>
              <a:rPr lang="en-US" dirty="0">
                <a:solidFill>
                  <a:schemeClr val="tx1"/>
                </a:solidFill>
              </a:rPr>
              <a:t> |</a:t>
            </a:r>
            <a:r>
              <a:rPr dirty="0">
                <a:solidFill>
                  <a:schemeClr val="tx1"/>
                </a:solidFill>
              </a:rPr>
              <a:t> Recommendatio</a:t>
            </a:r>
            <a:r>
              <a:rPr lang="en-US" dirty="0">
                <a:solidFill>
                  <a:schemeClr val="tx1"/>
                </a:solidFill>
              </a:rPr>
              <a:t>ns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59304"/>
            <a:ext cx="8229600" cy="572029"/>
          </a:xfrm>
        </p:spPr>
        <p:txBody>
          <a:bodyPr>
            <a:noAutofit/>
          </a:bodyPr>
          <a:lstStyle/>
          <a:p>
            <a:pPr algn="l"/>
            <a:r>
              <a:rPr sz="3200" b="1" dirty="0"/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27667"/>
            <a:ext cx="8229600" cy="2384777"/>
          </a:xfrm>
        </p:spPr>
        <p:txBody>
          <a:bodyPr>
            <a:noAutofit/>
          </a:bodyPr>
          <a:lstStyle/>
          <a:p>
            <a:r>
              <a:rPr lang="en-IN" sz="2000" dirty="0"/>
              <a:t>Sales are stable, but insights from reviews are under-utilized.</a:t>
            </a:r>
          </a:p>
          <a:p>
            <a:r>
              <a:rPr lang="en-IN" sz="2000" dirty="0"/>
              <a:t>Goals: </a:t>
            </a:r>
          </a:p>
          <a:p>
            <a:pPr marL="0" indent="0">
              <a:buNone/>
            </a:pPr>
            <a:r>
              <a:rPr lang="en-IN" sz="2000" dirty="0"/>
              <a:t>	Use customer feedback to improve:</a:t>
            </a:r>
          </a:p>
          <a:p>
            <a:pPr lvl="1">
              <a:buFont typeface="Wingdings" pitchFamily="2" charset="2"/>
              <a:buChar char="§"/>
            </a:pPr>
            <a:r>
              <a:rPr lang="en-IN" sz="2000" dirty="0"/>
              <a:t>Product formulation</a:t>
            </a:r>
          </a:p>
          <a:p>
            <a:pPr lvl="1">
              <a:buFont typeface="Wingdings" pitchFamily="2" charset="2"/>
              <a:buChar char="§"/>
            </a:pPr>
            <a:r>
              <a:rPr lang="en-IN" sz="2000" dirty="0"/>
              <a:t>Marketing strategy</a:t>
            </a:r>
          </a:p>
          <a:p>
            <a:pPr lvl="1">
              <a:buFont typeface="Wingdings" pitchFamily="2" charset="2"/>
              <a:buChar char="§"/>
            </a:pPr>
            <a:r>
              <a:rPr lang="en-IN" sz="2000" dirty="0"/>
              <a:t>Customer support effectiveness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29418"/>
            <a:ext cx="8229600" cy="604838"/>
          </a:xfrm>
        </p:spPr>
        <p:txBody>
          <a:bodyPr>
            <a:normAutofit/>
          </a:bodyPr>
          <a:lstStyle/>
          <a:p>
            <a:pPr algn="l"/>
            <a:r>
              <a:rPr sz="3200" b="1" dirty="0"/>
              <a:t>End-to-End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5090"/>
            <a:ext cx="8562622" cy="3220156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Preserve original review context</a:t>
            </a:r>
          </a:p>
          <a:p>
            <a:pPr lvl="1">
              <a:buFont typeface="Wingdings" pitchFamily="2" charset="2"/>
              <a:buChar char="§"/>
            </a:pPr>
            <a:r>
              <a:rPr lang="en-IN" sz="2000" dirty="0"/>
              <a:t>Minimal text cleaning to avoid losing medical meaning.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Convert text into semantic understanding</a:t>
            </a:r>
          </a:p>
          <a:p>
            <a:pPr lvl="1">
              <a:buFont typeface="Wingdings" pitchFamily="2" charset="2"/>
              <a:buChar char="§"/>
            </a:pPr>
            <a:r>
              <a:rPr lang="en-IN" sz="2000" dirty="0"/>
              <a:t>Sentence-BERT used to capture meaning, not just keywords.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One shared embedding layer</a:t>
            </a:r>
          </a:p>
          <a:p>
            <a:pPr lvl="1">
              <a:buFont typeface="Wingdings" pitchFamily="2" charset="2"/>
              <a:buChar char="§"/>
            </a:pPr>
            <a:r>
              <a:rPr lang="en-IN" sz="2000" dirty="0"/>
              <a:t>Same text representation reused across all problems.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Robust and interpretable models</a:t>
            </a:r>
          </a:p>
          <a:p>
            <a:pPr lvl="1">
              <a:buFont typeface="Wingdings" pitchFamily="2" charset="2"/>
              <a:buChar char="§"/>
            </a:pPr>
            <a:r>
              <a:rPr lang="en-IN" sz="2000" dirty="0"/>
              <a:t>XGBoost chosen for strong performance and stability.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95551"/>
            <a:ext cx="8229600" cy="537105"/>
          </a:xfrm>
        </p:spPr>
        <p:txBody>
          <a:bodyPr>
            <a:noAutofit/>
          </a:bodyPr>
          <a:lstStyle/>
          <a:p>
            <a:pPr algn="l"/>
            <a:r>
              <a:rPr sz="3200" b="1" dirty="0"/>
              <a:t>Sentiment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86995"/>
            <a:ext cx="8449733" cy="3552738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Identify positive and negative customer experiences.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Binary classification approach</a:t>
            </a:r>
          </a:p>
          <a:p>
            <a:pPr lvl="1">
              <a:buFont typeface="Wingdings" pitchFamily="2" charset="2"/>
              <a:buChar char="§"/>
            </a:pPr>
            <a:r>
              <a:rPr lang="en-IN" sz="2000" dirty="0"/>
              <a:t>Reviews classified as Positive or Negative</a:t>
            </a:r>
            <a:r>
              <a:rPr lang="en-IN" sz="2000" i="1" dirty="0"/>
              <a:t>.</a:t>
            </a:r>
            <a:endParaRPr lang="en-IN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Clear label definition</a:t>
            </a:r>
          </a:p>
          <a:p>
            <a:pPr lvl="1">
              <a:buFont typeface="Wingdings" pitchFamily="2" charset="2"/>
              <a:buChar char="§"/>
            </a:pPr>
            <a:r>
              <a:rPr lang="en-IN" sz="2000" dirty="0"/>
              <a:t>Sentiment derived directly from customer ratings.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Imbalance handled deliberately</a:t>
            </a:r>
          </a:p>
          <a:p>
            <a:pPr lvl="1">
              <a:buFont typeface="Wingdings" pitchFamily="2" charset="2"/>
              <a:buChar char="§"/>
            </a:pPr>
            <a:r>
              <a:rPr lang="en-IN" sz="2000" dirty="0"/>
              <a:t>Negative reviews given higher importance.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Right evaluation metrics</a:t>
            </a:r>
          </a:p>
          <a:p>
            <a:pPr lvl="1">
              <a:buFont typeface="Wingdings" pitchFamily="2" charset="2"/>
              <a:buChar char="§"/>
            </a:pPr>
            <a:r>
              <a:rPr lang="en-IN" sz="2000" dirty="0"/>
              <a:t>ROC-AUC for model quality, Negative-class F1 for risk control.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37784"/>
            <a:ext cx="8229600" cy="537105"/>
          </a:xfrm>
        </p:spPr>
        <p:txBody>
          <a:bodyPr>
            <a:noAutofit/>
          </a:bodyPr>
          <a:lstStyle/>
          <a:p>
            <a:pPr algn="l"/>
            <a:r>
              <a:rPr sz="3200" b="1" dirty="0"/>
              <a:t>Effectiveness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6898"/>
            <a:ext cx="8573911" cy="4025680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5-level effectiveness scale</a:t>
            </a:r>
          </a:p>
          <a:p>
            <a:pPr lvl="1">
              <a:buFont typeface="Wingdings" pitchFamily="2" charset="2"/>
              <a:buChar char="§"/>
            </a:pPr>
            <a:r>
              <a:rPr lang="en-IN" sz="2000" dirty="0"/>
              <a:t>From very low to very high effectiveness.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Ordered (ordinal) classification problem</a:t>
            </a:r>
          </a:p>
          <a:p>
            <a:pPr lvl="1">
              <a:buFont typeface="Wingdings" pitchFamily="2" charset="2"/>
              <a:buChar char="§"/>
            </a:pPr>
            <a:r>
              <a:rPr lang="en-IN" sz="2000" dirty="0"/>
              <a:t>Misclassifying by one level is less severe than by many levels.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Distance-aware evaluation</a:t>
            </a:r>
          </a:p>
          <a:p>
            <a:pPr lvl="1">
              <a:buFont typeface="Wingdings" pitchFamily="2" charset="2"/>
              <a:buChar char="§"/>
            </a:pPr>
            <a:r>
              <a:rPr lang="en-IN" sz="2000" dirty="0"/>
              <a:t>Metrics consider </a:t>
            </a:r>
            <a:r>
              <a:rPr lang="en-IN" sz="2000" i="1" dirty="0"/>
              <a:t>how far</a:t>
            </a:r>
            <a:r>
              <a:rPr lang="en-IN" sz="2000" dirty="0"/>
              <a:t> predictions are from the true class.</a:t>
            </a:r>
          </a:p>
          <a:p>
            <a:r>
              <a:rPr lang="en-IN" sz="2000" dirty="0"/>
              <a:t>Evaluation Metrics Explained (Simple)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Quadratic Weighted Kappa (QWK)</a:t>
            </a:r>
          </a:p>
          <a:p>
            <a:pPr lvl="1">
              <a:buFont typeface="Wingdings" pitchFamily="2" charset="2"/>
              <a:buChar char="§"/>
            </a:pPr>
            <a:r>
              <a:rPr lang="en-IN" sz="2000" dirty="0"/>
              <a:t>Measures agreement while penalizing larger mistakes more.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Mean Absolute Error (MAE)</a:t>
            </a:r>
          </a:p>
          <a:p>
            <a:pPr lvl="1">
              <a:buFont typeface="Wingdings" pitchFamily="2" charset="2"/>
              <a:buChar char="§"/>
            </a:pPr>
            <a:r>
              <a:rPr lang="en-IN" sz="2000" dirty="0"/>
              <a:t>Average number of levels the prediction is off by.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978" y="285927"/>
            <a:ext cx="8229600" cy="560740"/>
          </a:xfrm>
        </p:spPr>
        <p:txBody>
          <a:bodyPr>
            <a:noAutofit/>
          </a:bodyPr>
          <a:lstStyle/>
          <a:p>
            <a:pPr algn="l"/>
            <a:r>
              <a:rPr sz="3200" b="1" dirty="0"/>
              <a:t>Customer Cohorts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978" y="1011766"/>
            <a:ext cx="8540044" cy="3097389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Cluster customers based on review content</a:t>
            </a:r>
          </a:p>
          <a:p>
            <a:pPr lvl="1">
              <a:buFont typeface="Wingdings" pitchFamily="2" charset="2"/>
              <a:buChar char="§"/>
            </a:pPr>
            <a:r>
              <a:rPr lang="en-IN" sz="2000" dirty="0"/>
              <a:t>Group users with similar experiences and opinions.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KMeans applied directly on embeddings</a:t>
            </a:r>
          </a:p>
          <a:p>
            <a:pPr lvl="1">
              <a:buFont typeface="Wingdings" pitchFamily="2" charset="2"/>
              <a:buChar char="§"/>
            </a:pPr>
            <a:r>
              <a:rPr lang="en-IN" sz="2000" dirty="0"/>
              <a:t>Sentence-BERT embeddings already capture key semantics.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Cluster quality validation</a:t>
            </a:r>
          </a:p>
          <a:p>
            <a:pPr lvl="1">
              <a:buFont typeface="Wingdings" pitchFamily="2" charset="2"/>
              <a:buChar char="§"/>
            </a:pPr>
            <a:r>
              <a:rPr lang="en-IN" sz="2000" dirty="0"/>
              <a:t>Silhouette score used to assess separation.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Supports targeted actions</a:t>
            </a:r>
          </a:p>
          <a:p>
            <a:pPr lvl="1">
              <a:buFont typeface="Wingdings" pitchFamily="2" charset="2"/>
              <a:buChar char="§"/>
            </a:pPr>
            <a:r>
              <a:rPr lang="en-IN" sz="2000" dirty="0"/>
              <a:t>Enables focused marketing, support, and product improvements.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19794"/>
            <a:ext cx="8229600" cy="639762"/>
          </a:xfrm>
        </p:spPr>
        <p:txBody>
          <a:bodyPr>
            <a:normAutofit/>
          </a:bodyPr>
          <a:lstStyle/>
          <a:p>
            <a:pPr algn="l"/>
            <a:r>
              <a:rPr sz="3200" b="1" dirty="0"/>
              <a:t>Medicine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80911"/>
            <a:ext cx="8229600" cy="3920067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Hybrid recommendation approach</a:t>
            </a:r>
          </a:p>
          <a:p>
            <a:pPr lvl="1">
              <a:buFont typeface="Wingdings" pitchFamily="2" charset="2"/>
              <a:buChar char="§"/>
            </a:pPr>
            <a:r>
              <a:rPr lang="en-IN" sz="2000" dirty="0"/>
              <a:t>Combines text understanding with predictive models.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Semantic relevance first</a:t>
            </a:r>
          </a:p>
          <a:p>
            <a:pPr lvl="1">
              <a:buFont typeface="Wingdings" pitchFamily="2" charset="2"/>
              <a:buChar char="§"/>
            </a:pPr>
            <a:r>
              <a:rPr lang="en-IN" sz="2000" dirty="0"/>
              <a:t>Matches medicines to user condition using review context.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Model-driven output</a:t>
            </a:r>
          </a:p>
          <a:p>
            <a:pPr lvl="1">
              <a:buFont typeface="Wingdings" pitchFamily="2" charset="2"/>
              <a:buChar char="§"/>
            </a:pPr>
            <a:r>
              <a:rPr lang="en-IN" sz="2000" dirty="0"/>
              <a:t>Uses predicted sentiment and effectiveness from trained models.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Rating Popularity as a confidence result</a:t>
            </a:r>
          </a:p>
          <a:p>
            <a:pPr lvl="1">
              <a:buFont typeface="Wingdings" pitchFamily="2" charset="2"/>
              <a:buChar char="§"/>
            </a:pPr>
            <a:r>
              <a:rPr lang="en-IN" sz="2000" dirty="0"/>
              <a:t>Prevents over-recommendation of low-evidence medicines.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Weighted scoring</a:t>
            </a:r>
          </a:p>
          <a:p>
            <a:pPr lvl="1">
              <a:buFont typeface="Wingdings" pitchFamily="2" charset="2"/>
              <a:buChar char="§"/>
            </a:pPr>
            <a:r>
              <a:rPr lang="en-IN" sz="2000" dirty="0"/>
              <a:t>Each recommendation is weighted in the final recommendation.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43705"/>
            <a:ext cx="8229600" cy="1143000"/>
          </a:xfrm>
        </p:spPr>
        <p:txBody>
          <a:bodyPr/>
          <a:lstStyle/>
          <a:p>
            <a:r>
              <a:rPr lang="en-US" b="1" dirty="0"/>
              <a:t>Thank You</a:t>
            </a:r>
            <a:endParaRPr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776</TotalTime>
  <Words>339</Words>
  <Application>Microsoft Macintosh PowerPoint</Application>
  <PresentationFormat>On-screen Show (4:3)</PresentationFormat>
  <Paragraphs>61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Wingdings</vt:lpstr>
      <vt:lpstr>Office Theme</vt:lpstr>
      <vt:lpstr>Medisyn Labs – Case Study</vt:lpstr>
      <vt:lpstr>Business Problem</vt:lpstr>
      <vt:lpstr>End-to-End Approach</vt:lpstr>
      <vt:lpstr>Sentiment Classification</vt:lpstr>
      <vt:lpstr>Effectiveness Prediction</vt:lpstr>
      <vt:lpstr>Customer Cohorts</vt:lpstr>
      <vt:lpstr>Medicine Recommendation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Medisyn Labs – Case Study</dc:title>
  <dc:subject/>
  <dc:creator/>
  <cp:keywords/>
  <dc:description>generated using python-pptx</dc:description>
  <cp:lastModifiedBy>Raj Singh</cp:lastModifiedBy>
  <cp:revision>92</cp:revision>
  <dcterms:created xsi:type="dcterms:W3CDTF">2013-01-27T09:14:16Z</dcterms:created>
  <dcterms:modified xsi:type="dcterms:W3CDTF">2025-12-31T09:31:03Z</dcterms:modified>
  <cp:category/>
</cp:coreProperties>
</file>